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7" r:id="rId2"/>
    <p:sldId id="256" r:id="rId3"/>
    <p:sldId id="261" r:id="rId4"/>
    <p:sldId id="262" r:id="rId5"/>
    <p:sldId id="263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/>
    <p:restoredTop sz="94614"/>
  </p:normalViewPr>
  <p:slideViewPr>
    <p:cSldViewPr snapToGrid="0">
      <p:cViewPr>
        <p:scale>
          <a:sx n="100" d="100"/>
          <a:sy n="100" d="100"/>
        </p:scale>
        <p:origin x="248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D101C-2785-C349-ACCB-8C4EDB9CBF6F}" type="datetimeFigureOut">
              <a:rPr lang="en-GR" smtClean="0"/>
              <a:t>3/2/26</a:t>
            </a:fld>
            <a:endParaRPr lang="en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803EE-0155-4544-91B6-E8C1C4CECAB7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6496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803EE-0155-4544-91B6-E8C1C4CECAB7}" type="slidenum">
              <a:rPr lang="en-GR" smtClean="0"/>
              <a:t>4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8006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49045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39989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86486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60877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17231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75032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2372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22953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593539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79601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6014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061E93C-39CE-0743-940E-89BB74E5D2A4}" type="datetimeFigureOut">
              <a:rPr lang="en-GR" smtClean="0"/>
              <a:t>3/2/26</a:t>
            </a:fld>
            <a:endParaRPr lang="en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6072353-E507-0F4C-8790-C755B838E2A8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0146027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image" Target="../media/image8.svg"/><Relationship Id="rId4" Type="http://schemas.openxmlformats.org/officeDocument/2006/relationships/image" Target="../media/image6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19C7B-21E1-709D-D4D4-D9F7F363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ghnut 3">
            <a:extLst>
              <a:ext uri="{FF2B5EF4-FFF2-40B4-BE49-F238E27FC236}">
                <a16:creationId xmlns:a16="http://schemas.microsoft.com/office/drawing/2014/main" id="{7A53BF19-5795-1ED1-D79F-9FDD674BC658}"/>
              </a:ext>
            </a:extLst>
          </p:cNvPr>
          <p:cNvSpPr/>
          <p:nvPr/>
        </p:nvSpPr>
        <p:spPr>
          <a:xfrm>
            <a:off x="-3815646" y="495714"/>
            <a:ext cx="6321779" cy="6205237"/>
          </a:xfrm>
          <a:prstGeom prst="donu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>
              <a:solidFill>
                <a:schemeClr val="tx1"/>
              </a:solidFill>
            </a:endParaRPr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C7F887E5-A5F4-DEDC-920E-623AC0C52626}"/>
              </a:ext>
            </a:extLst>
          </p:cNvPr>
          <p:cNvSpPr/>
          <p:nvPr/>
        </p:nvSpPr>
        <p:spPr>
          <a:xfrm rot="3914522">
            <a:off x="-4071555" y="268110"/>
            <a:ext cx="6336888" cy="6321778"/>
          </a:xfrm>
          <a:prstGeom prst="blockArc">
            <a:avLst>
              <a:gd name="adj1" fmla="val 10599184"/>
              <a:gd name="adj2" fmla="val 13270430"/>
              <a:gd name="adj3" fmla="val 34464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>
              <a:solidFill>
                <a:schemeClr val="tx1"/>
              </a:solidFill>
            </a:endParaRPr>
          </a:p>
        </p:txBody>
      </p:sp>
      <p:pic>
        <p:nvPicPr>
          <p:cNvPr id="17" name="Graphic 16" descr="Mop and bucket with solid fill">
            <a:extLst>
              <a:ext uri="{FF2B5EF4-FFF2-40B4-BE49-F238E27FC236}">
                <a16:creationId xmlns:a16="http://schemas.microsoft.com/office/drawing/2014/main" id="{2F040B5E-98B0-55E8-2B7A-FF7522BD5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16" y="1095455"/>
            <a:ext cx="914400" cy="914400"/>
          </a:xfrm>
          <a:prstGeom prst="rect">
            <a:avLst/>
          </a:prstGeom>
        </p:spPr>
      </p:pic>
      <p:pic>
        <p:nvPicPr>
          <p:cNvPr id="18" name="Graphic 17" descr="Head with gears with solid fill">
            <a:extLst>
              <a:ext uri="{FF2B5EF4-FFF2-40B4-BE49-F238E27FC236}">
                <a16:creationId xmlns:a16="http://schemas.microsoft.com/office/drawing/2014/main" id="{2EC3C425-A3FE-CBEA-EA4B-EA211C9B7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036" y="2151529"/>
            <a:ext cx="914400" cy="914400"/>
          </a:xfrm>
          <a:prstGeom prst="rect">
            <a:avLst/>
          </a:prstGeom>
        </p:spPr>
      </p:pic>
      <p:pic>
        <p:nvPicPr>
          <p:cNvPr id="20" name="Graphic 19" descr="Fire with solid fill">
            <a:extLst>
              <a:ext uri="{FF2B5EF4-FFF2-40B4-BE49-F238E27FC236}">
                <a16:creationId xmlns:a16="http://schemas.microsoft.com/office/drawing/2014/main" id="{838CE1E9-EA6C-C62F-CAD5-E02E4A3347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4036" y="3792072"/>
            <a:ext cx="914400" cy="914400"/>
          </a:xfrm>
          <a:prstGeom prst="rect">
            <a:avLst/>
          </a:prstGeom>
        </p:spPr>
      </p:pic>
      <p:pic>
        <p:nvPicPr>
          <p:cNvPr id="21" name="Graphic 20" descr="Bar chart with solid fill">
            <a:extLst>
              <a:ext uri="{FF2B5EF4-FFF2-40B4-BE49-F238E27FC236}">
                <a16:creationId xmlns:a16="http://schemas.microsoft.com/office/drawing/2014/main" id="{4F56CE10-7FC7-4A79-FEC7-360B365E39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16" y="5190565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397AFA7-B063-DA6B-EB82-CE6830B18004}"/>
              </a:ext>
            </a:extLst>
          </p:cNvPr>
          <p:cNvSpPr txBox="1"/>
          <p:nvPr/>
        </p:nvSpPr>
        <p:spPr>
          <a:xfrm>
            <a:off x="4141693" y="783214"/>
            <a:ext cx="6669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+mj-lt"/>
              </a:rPr>
              <a:t>Disaster Tweet Classification</a:t>
            </a:r>
            <a:endParaRPr lang="en-GR" sz="4000" b="1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BB67AE-2A77-A017-D7EC-9D8C090E40DF}"/>
              </a:ext>
            </a:extLst>
          </p:cNvPr>
          <p:cNvSpPr txBox="1"/>
          <p:nvPr/>
        </p:nvSpPr>
        <p:spPr>
          <a:xfrm>
            <a:off x="4873478" y="1367989"/>
            <a:ext cx="481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Identifying Real-World Emergencies using NLP</a:t>
            </a:r>
            <a:endParaRPr lang="en-GR" i="1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98BB79D-D2A2-C3C3-6A62-E51C2968C7D0}"/>
              </a:ext>
            </a:extLst>
          </p:cNvPr>
          <p:cNvGrpSpPr/>
          <p:nvPr/>
        </p:nvGrpSpPr>
        <p:grpSpPr>
          <a:xfrm>
            <a:off x="4141693" y="2545993"/>
            <a:ext cx="5910581" cy="1384995"/>
            <a:chOff x="4141693" y="2545993"/>
            <a:chExt cx="5910581" cy="138499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37A435-107D-CB21-7E5E-D98FB437054E}"/>
                </a:ext>
              </a:extLst>
            </p:cNvPr>
            <p:cNvSpPr txBox="1"/>
            <p:nvPr/>
          </p:nvSpPr>
          <p:spPr>
            <a:xfrm>
              <a:off x="4141693" y="2545993"/>
              <a:ext cx="23607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sz="2400" dirty="0">
                  <a:latin typeface="+mj-lt"/>
                </a:rPr>
                <a:t>Our Objective: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DFC0B2-0C17-68B8-A5AD-766E74E9FAC2}"/>
                </a:ext>
              </a:extLst>
            </p:cNvPr>
            <p:cNvSpPr txBox="1"/>
            <p:nvPr/>
          </p:nvSpPr>
          <p:spPr>
            <a:xfrm flipH="1">
              <a:off x="4141693" y="3007658"/>
              <a:ext cx="591058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Build an NLP model to distinguish between tweets reporting real disasters and those using metaphorical language.</a:t>
              </a:r>
              <a:endParaRPr lang="en-GR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C819288-1DF5-7CBB-44DE-9AA5109A608B}"/>
              </a:ext>
            </a:extLst>
          </p:cNvPr>
          <p:cNvSpPr txBox="1"/>
          <p:nvPr/>
        </p:nvSpPr>
        <p:spPr>
          <a:xfrm>
            <a:off x="4141693" y="4269444"/>
            <a:ext cx="345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2400" dirty="0">
                <a:latin typeface="+mj-lt"/>
              </a:rPr>
              <a:t>Goal and Evaluation: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376663-19EE-63D5-B9AE-273E4BF9D2A5}"/>
              </a:ext>
            </a:extLst>
          </p:cNvPr>
          <p:cNvSpPr txBox="1"/>
          <p:nvPr/>
        </p:nvSpPr>
        <p:spPr>
          <a:xfrm>
            <a:off x="4141693" y="4746399"/>
            <a:ext cx="666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R" dirty="0"/>
              <a:t>Optimize for high recall and evaluate an F1 score to ensure real emergencies aren’t missed.</a:t>
            </a:r>
          </a:p>
        </p:txBody>
      </p:sp>
    </p:spTree>
    <p:extLst>
      <p:ext uri="{BB962C8B-B14F-4D97-AF65-F5344CB8AC3E}">
        <p14:creationId xmlns:p14="http://schemas.microsoft.com/office/powerpoint/2010/main" val="3197744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ghnut 3">
            <a:extLst>
              <a:ext uri="{FF2B5EF4-FFF2-40B4-BE49-F238E27FC236}">
                <a16:creationId xmlns:a16="http://schemas.microsoft.com/office/drawing/2014/main" id="{39FD6445-A7BD-1B32-C411-106BF6C7EF44}"/>
              </a:ext>
            </a:extLst>
          </p:cNvPr>
          <p:cNvSpPr/>
          <p:nvPr/>
        </p:nvSpPr>
        <p:spPr>
          <a:xfrm>
            <a:off x="-3815646" y="495714"/>
            <a:ext cx="6321779" cy="6205237"/>
          </a:xfrm>
          <a:prstGeom prst="donu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>
              <a:solidFill>
                <a:schemeClr val="tx1"/>
              </a:solidFill>
            </a:endParaRP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15ABE169-3D58-2779-BAD6-09EEC4C25D71}"/>
              </a:ext>
            </a:extLst>
          </p:cNvPr>
          <p:cNvSpPr/>
          <p:nvPr/>
        </p:nvSpPr>
        <p:spPr>
          <a:xfrm rot="5987440">
            <a:off x="-3639170" y="363152"/>
            <a:ext cx="6336888" cy="6305784"/>
          </a:xfrm>
          <a:prstGeom prst="blockArc">
            <a:avLst>
              <a:gd name="adj1" fmla="val 10599184"/>
              <a:gd name="adj2" fmla="val 13149299"/>
              <a:gd name="adj3" fmla="val 33350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>
              <a:solidFill>
                <a:schemeClr val="tx1"/>
              </a:solidFill>
            </a:endParaRPr>
          </a:p>
        </p:txBody>
      </p:sp>
      <p:pic>
        <p:nvPicPr>
          <p:cNvPr id="11" name="Graphic 10" descr="Mop and bucket with solid fill">
            <a:extLst>
              <a:ext uri="{FF2B5EF4-FFF2-40B4-BE49-F238E27FC236}">
                <a16:creationId xmlns:a16="http://schemas.microsoft.com/office/drawing/2014/main" id="{4F4D4A1A-932B-EE28-D5D1-8B6C28E91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16" y="1095455"/>
            <a:ext cx="914400" cy="914400"/>
          </a:xfrm>
          <a:prstGeom prst="rect">
            <a:avLst/>
          </a:prstGeom>
        </p:spPr>
      </p:pic>
      <p:pic>
        <p:nvPicPr>
          <p:cNvPr id="12" name="Graphic 11" descr="Head with gears with solid fill">
            <a:extLst>
              <a:ext uri="{FF2B5EF4-FFF2-40B4-BE49-F238E27FC236}">
                <a16:creationId xmlns:a16="http://schemas.microsoft.com/office/drawing/2014/main" id="{BB87FB35-574B-DFD3-007F-78E6F50648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036" y="2151529"/>
            <a:ext cx="914400" cy="914400"/>
          </a:xfrm>
          <a:prstGeom prst="rect">
            <a:avLst/>
          </a:prstGeom>
        </p:spPr>
      </p:pic>
      <p:pic>
        <p:nvPicPr>
          <p:cNvPr id="14" name="Graphic 13" descr="Fire with solid fill">
            <a:extLst>
              <a:ext uri="{FF2B5EF4-FFF2-40B4-BE49-F238E27FC236}">
                <a16:creationId xmlns:a16="http://schemas.microsoft.com/office/drawing/2014/main" id="{61E95AF1-207D-EB19-8183-94DBBA2C19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4036" y="3792072"/>
            <a:ext cx="914400" cy="914400"/>
          </a:xfrm>
          <a:prstGeom prst="rect">
            <a:avLst/>
          </a:prstGeom>
        </p:spPr>
      </p:pic>
      <p:pic>
        <p:nvPicPr>
          <p:cNvPr id="15" name="Graphic 14" descr="Bar chart with solid fill">
            <a:extLst>
              <a:ext uri="{FF2B5EF4-FFF2-40B4-BE49-F238E27FC236}">
                <a16:creationId xmlns:a16="http://schemas.microsoft.com/office/drawing/2014/main" id="{92A48C81-D95E-FF6F-EDF0-67D91A2E57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16" y="5190565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B6D2A3-352C-FFDB-2D9B-5FEBC8ECD294}"/>
              </a:ext>
            </a:extLst>
          </p:cNvPr>
          <p:cNvSpPr txBox="1"/>
          <p:nvPr/>
        </p:nvSpPr>
        <p:spPr>
          <a:xfrm>
            <a:off x="5450542" y="844769"/>
            <a:ext cx="327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4000" b="1" dirty="0">
                <a:latin typeface="+mj-lt"/>
              </a:rPr>
              <a:t>Data Cleaning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40642E3-D19B-8B09-6388-3D93C35C17B2}"/>
              </a:ext>
            </a:extLst>
          </p:cNvPr>
          <p:cNvGrpSpPr/>
          <p:nvPr/>
        </p:nvGrpSpPr>
        <p:grpSpPr>
          <a:xfrm>
            <a:off x="4049057" y="2151529"/>
            <a:ext cx="7008907" cy="2867896"/>
            <a:chOff x="4141693" y="2545993"/>
            <a:chExt cx="7008907" cy="286789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7C77933-601C-5FC3-78D7-031A3B8D453D}"/>
                </a:ext>
              </a:extLst>
            </p:cNvPr>
            <p:cNvGrpSpPr/>
            <p:nvPr/>
          </p:nvGrpSpPr>
          <p:grpSpPr>
            <a:xfrm>
              <a:off x="4141693" y="2545993"/>
              <a:ext cx="5910581" cy="1661994"/>
              <a:chOff x="4141693" y="2545993"/>
              <a:chExt cx="5910581" cy="1661994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1D15D3C-E585-6BD6-A550-C391338FDF3B}"/>
                  </a:ext>
                </a:extLst>
              </p:cNvPr>
              <p:cNvSpPr txBox="1"/>
              <p:nvPr/>
            </p:nvSpPr>
            <p:spPr>
              <a:xfrm>
                <a:off x="4141693" y="2545993"/>
                <a:ext cx="23607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R" sz="2400" dirty="0">
                    <a:latin typeface="+mj-lt"/>
                  </a:rPr>
                  <a:t>Strategy: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F4DB56-7131-89D9-6155-EBA01FFAB840}"/>
                  </a:ext>
                </a:extLst>
              </p:cNvPr>
              <p:cNvSpPr txBox="1"/>
              <p:nvPr/>
            </p:nvSpPr>
            <p:spPr>
              <a:xfrm flipH="1">
                <a:off x="4141693" y="3007658"/>
                <a:ext cx="591058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We implemented a rigorous preprocessing pipeline to remove noise and standardize input.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R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C2C16A-135E-13EB-AF2B-DDA5B08DA22C}"/>
                </a:ext>
              </a:extLst>
            </p:cNvPr>
            <p:cNvSpPr txBox="1"/>
            <p:nvPr/>
          </p:nvSpPr>
          <p:spPr>
            <a:xfrm>
              <a:off x="4572037" y="3607822"/>
              <a:ext cx="6578563" cy="1806067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GB" sz="1600" dirty="0"/>
                <a:t>Removed noise: Stripped URLs, User Mentions (@user), Hashtags (#), and Emojis.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R" sz="1600" dirty="0"/>
                <a:t>Converted all text to lowercase and fixed elongated words(e.g. ‘sooo’ -&gt; ‘so’.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R" sz="1600" dirty="0"/>
                <a:t>Dropped keyword and location columns  to prevent bias and focus purely on the content of the tweets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R" sz="1600" dirty="0"/>
                <a:t>Stripped extra whitespace and special characters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2530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7E566-8532-BFDE-C53F-23EFCA2F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ghnut 3">
            <a:extLst>
              <a:ext uri="{FF2B5EF4-FFF2-40B4-BE49-F238E27FC236}">
                <a16:creationId xmlns:a16="http://schemas.microsoft.com/office/drawing/2014/main" id="{C561E57E-4F22-28E4-7174-CC6F2221D47E}"/>
              </a:ext>
            </a:extLst>
          </p:cNvPr>
          <p:cNvSpPr/>
          <p:nvPr/>
        </p:nvSpPr>
        <p:spPr>
          <a:xfrm>
            <a:off x="-3815646" y="495714"/>
            <a:ext cx="6321779" cy="6205237"/>
          </a:xfrm>
          <a:prstGeom prst="donu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>
              <a:solidFill>
                <a:schemeClr val="tx1"/>
              </a:solidFill>
            </a:endParaRP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3FD9C12D-D434-4E5A-0196-FA5BF704947B}"/>
              </a:ext>
            </a:extLst>
          </p:cNvPr>
          <p:cNvSpPr/>
          <p:nvPr/>
        </p:nvSpPr>
        <p:spPr>
          <a:xfrm rot="8341820">
            <a:off x="-3639170" y="363152"/>
            <a:ext cx="6336888" cy="6305784"/>
          </a:xfrm>
          <a:prstGeom prst="blockArc">
            <a:avLst>
              <a:gd name="adj1" fmla="val 10599184"/>
              <a:gd name="adj2" fmla="val 13149299"/>
              <a:gd name="adj3" fmla="val 33350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>
              <a:solidFill>
                <a:schemeClr val="tx1"/>
              </a:solidFill>
            </a:endParaRPr>
          </a:p>
        </p:txBody>
      </p:sp>
      <p:pic>
        <p:nvPicPr>
          <p:cNvPr id="2" name="Graphic 1" descr="Head with gears with solid fill">
            <a:extLst>
              <a:ext uri="{FF2B5EF4-FFF2-40B4-BE49-F238E27FC236}">
                <a16:creationId xmlns:a16="http://schemas.microsoft.com/office/drawing/2014/main" id="{36DB5ABD-380E-DE01-22FF-4F6DB34C7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036" y="2151529"/>
            <a:ext cx="914400" cy="914400"/>
          </a:xfrm>
          <a:prstGeom prst="rect">
            <a:avLst/>
          </a:prstGeom>
        </p:spPr>
      </p:pic>
      <p:pic>
        <p:nvPicPr>
          <p:cNvPr id="6" name="Graphic 5" descr="Mop and bucket with solid fill">
            <a:extLst>
              <a:ext uri="{FF2B5EF4-FFF2-40B4-BE49-F238E27FC236}">
                <a16:creationId xmlns:a16="http://schemas.microsoft.com/office/drawing/2014/main" id="{33A41928-67CC-B35C-7BB3-8B4132CE80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16" y="1095455"/>
            <a:ext cx="914400" cy="914400"/>
          </a:xfrm>
          <a:prstGeom prst="rect">
            <a:avLst/>
          </a:prstGeom>
        </p:spPr>
      </p:pic>
      <p:pic>
        <p:nvPicPr>
          <p:cNvPr id="9" name="Graphic 8" descr="Fire with solid fill">
            <a:extLst>
              <a:ext uri="{FF2B5EF4-FFF2-40B4-BE49-F238E27FC236}">
                <a16:creationId xmlns:a16="http://schemas.microsoft.com/office/drawing/2014/main" id="{04EA318C-98E9-C8DB-E37D-793E3B06EF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4036" y="3792072"/>
            <a:ext cx="914400" cy="914400"/>
          </a:xfrm>
          <a:prstGeom prst="rect">
            <a:avLst/>
          </a:prstGeom>
        </p:spPr>
      </p:pic>
      <p:pic>
        <p:nvPicPr>
          <p:cNvPr id="10" name="Graphic 9" descr="Bar chart with solid fill">
            <a:extLst>
              <a:ext uri="{FF2B5EF4-FFF2-40B4-BE49-F238E27FC236}">
                <a16:creationId xmlns:a16="http://schemas.microsoft.com/office/drawing/2014/main" id="{7D6625CD-601F-93F4-6516-66102952D3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16" y="519056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D7AD6A-830B-05C1-3A0B-D35DD1E11130}"/>
              </a:ext>
            </a:extLst>
          </p:cNvPr>
          <p:cNvSpPr txBox="1"/>
          <p:nvPr/>
        </p:nvSpPr>
        <p:spPr>
          <a:xfrm>
            <a:off x="5103512" y="612239"/>
            <a:ext cx="6669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4000" b="1" dirty="0">
                <a:latin typeface="+mj-lt"/>
              </a:rPr>
              <a:t>The Algorithm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5B0B8D-14BA-E677-898D-BDE153B2FFA1}"/>
              </a:ext>
            </a:extLst>
          </p:cNvPr>
          <p:cNvGrpSpPr/>
          <p:nvPr/>
        </p:nvGrpSpPr>
        <p:grpSpPr>
          <a:xfrm>
            <a:off x="4141693" y="1941533"/>
            <a:ext cx="7631561" cy="2474485"/>
            <a:chOff x="4141693" y="2545993"/>
            <a:chExt cx="7631561" cy="158629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B93781-D60D-9BD1-A679-6F15D9170E43}"/>
                </a:ext>
              </a:extLst>
            </p:cNvPr>
            <p:cNvSpPr txBox="1"/>
            <p:nvPr/>
          </p:nvSpPr>
          <p:spPr>
            <a:xfrm>
              <a:off x="4141693" y="2545993"/>
              <a:ext cx="7631561" cy="453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sz="2400" dirty="0">
                  <a:latin typeface="+mj-lt"/>
                </a:rPr>
                <a:t>Embedding method: DistilBERT </a:t>
              </a:r>
              <a:r>
                <a:rPr lang="en-GR" sz="1600" dirty="0">
                  <a:latin typeface="+mj-lt"/>
                </a:rPr>
                <a:t>(</a:t>
              </a:r>
              <a:r>
                <a:rPr lang="en-GB" sz="1600" dirty="0"/>
                <a:t>Distilled Bidirectional Encoder Representations from Transformers)</a:t>
              </a:r>
              <a:endParaRPr lang="en-GR" sz="1600" dirty="0">
                <a:latin typeface="+mj-lt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181A81-2243-0C2D-EFB2-BA6F56212AD4}"/>
                </a:ext>
              </a:extLst>
            </p:cNvPr>
            <p:cNvSpPr txBox="1"/>
            <p:nvPr/>
          </p:nvSpPr>
          <p:spPr>
            <a:xfrm flipH="1">
              <a:off x="4141693" y="3007658"/>
              <a:ext cx="5910581" cy="1124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dirty="0"/>
                <a:t>Why DistilBERT?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Speed: </a:t>
              </a:r>
              <a:r>
                <a:rPr lang="en-GB" dirty="0"/>
                <a:t>60% faster than standard BERT.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/>
                <a:t>Efficient: 40% smaller while retaining </a:t>
              </a:r>
              <a:r>
                <a:rPr lang="el-GR" dirty="0"/>
                <a:t>~</a:t>
              </a:r>
              <a:r>
                <a:rPr lang="en-GB" dirty="0"/>
                <a:t>97% </a:t>
              </a:r>
              <a:r>
                <a:rPr lang="el-GR" dirty="0"/>
                <a:t> </a:t>
              </a:r>
              <a:r>
                <a:rPr lang="en-US" dirty="0"/>
                <a:t>of parent model BERT performance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R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5E3607-8D37-934A-7F7F-EF559ECC92FE}"/>
              </a:ext>
            </a:extLst>
          </p:cNvPr>
          <p:cNvGrpSpPr/>
          <p:nvPr/>
        </p:nvGrpSpPr>
        <p:grpSpPr>
          <a:xfrm>
            <a:off x="3951361" y="3792072"/>
            <a:ext cx="7008907" cy="1999686"/>
            <a:chOff x="4141693" y="2545993"/>
            <a:chExt cx="7008907" cy="482749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F78496-0A71-873D-F270-F4925618C093}"/>
                </a:ext>
              </a:extLst>
            </p:cNvPr>
            <p:cNvSpPr txBox="1"/>
            <p:nvPr/>
          </p:nvSpPr>
          <p:spPr>
            <a:xfrm>
              <a:off x="4141693" y="2545993"/>
              <a:ext cx="2360707" cy="1114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sz="2400" dirty="0">
                  <a:latin typeface="+mj-lt"/>
                </a:rPr>
                <a:t>How it works: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BC3621-BF75-DE52-ECFF-09C35006C2BF}"/>
                </a:ext>
              </a:extLst>
            </p:cNvPr>
            <p:cNvSpPr txBox="1"/>
            <p:nvPr/>
          </p:nvSpPr>
          <p:spPr>
            <a:xfrm>
              <a:off x="4572037" y="3607822"/>
              <a:ext cx="6578563" cy="3765664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GR" sz="1600" dirty="0"/>
                <a:t>IT converts text to umerical tokens of max length 128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R" sz="1600" dirty="0"/>
                <a:t>Embedding stage:  The model reads the tweet contextually ( ‘ understanding when ‘fire’ means a life threatening  real life fire and when a LeBron d</a:t>
              </a:r>
              <a:r>
                <a:rPr lang="en-GB" sz="1600" dirty="0"/>
                <a:t>u</a:t>
              </a:r>
              <a:r>
                <a:rPr lang="en-GR" sz="1600" dirty="0"/>
                <a:t>nk is fire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GR" sz="1600" dirty="0"/>
                <a:t>A final softmax layer outputs the probability of the tweet being about a ‘Real Disaster’ (1) or ‘Not Disaster’(0) 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CF32546-B909-D88C-882B-1BBA63415CF9}"/>
              </a:ext>
            </a:extLst>
          </p:cNvPr>
          <p:cNvSpPr txBox="1"/>
          <p:nvPr/>
        </p:nvSpPr>
        <p:spPr>
          <a:xfrm>
            <a:off x="4381705" y="1183323"/>
            <a:ext cx="4760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 err="1">
                <a:latin typeface="+mj-lt"/>
              </a:rPr>
              <a:t>Softmax</a:t>
            </a:r>
            <a:r>
              <a:rPr lang="en-GB" b="1" i="1" dirty="0">
                <a:latin typeface="+mj-lt"/>
              </a:rPr>
              <a:t> </a:t>
            </a:r>
            <a:r>
              <a:rPr lang="en-GB" sz="2000" i="1" dirty="0">
                <a:latin typeface="+mj-lt"/>
              </a:rPr>
              <a:t>prediction</a:t>
            </a:r>
            <a:r>
              <a:rPr lang="en-GB" b="1" i="1" dirty="0">
                <a:latin typeface="+mj-lt"/>
              </a:rPr>
              <a:t> </a:t>
            </a:r>
            <a:r>
              <a:rPr lang="en-GB" i="1" dirty="0">
                <a:latin typeface="+mj-lt"/>
              </a:rPr>
              <a:t>in</a:t>
            </a:r>
            <a:r>
              <a:rPr lang="en-GB" b="1" i="1" dirty="0">
                <a:latin typeface="+mj-lt"/>
              </a:rPr>
              <a:t> </a:t>
            </a:r>
            <a:r>
              <a:rPr lang="en-GB" i="1" dirty="0">
                <a:latin typeface="+mj-lt"/>
              </a:rPr>
              <a:t>the</a:t>
            </a:r>
            <a:r>
              <a:rPr lang="en-GB" b="1" i="1" dirty="0">
                <a:latin typeface="+mj-lt"/>
              </a:rPr>
              <a:t> </a:t>
            </a:r>
            <a:r>
              <a:rPr lang="en-GB" i="1" dirty="0">
                <a:latin typeface="+mj-lt"/>
              </a:rPr>
              <a:t>DistilBERT</a:t>
            </a:r>
            <a:r>
              <a:rPr lang="en-GB" b="1" i="1" dirty="0">
                <a:latin typeface="+mj-lt"/>
              </a:rPr>
              <a:t> </a:t>
            </a:r>
            <a:r>
              <a:rPr lang="en-GB" i="1" dirty="0">
                <a:latin typeface="+mj-lt"/>
              </a:rPr>
              <a:t>framework</a:t>
            </a:r>
            <a:endParaRPr lang="en-GR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25192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FB810-1DBA-7D80-04AD-7CA5D23F0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ghnut 3">
            <a:extLst>
              <a:ext uri="{FF2B5EF4-FFF2-40B4-BE49-F238E27FC236}">
                <a16:creationId xmlns:a16="http://schemas.microsoft.com/office/drawing/2014/main" id="{B5D576ED-D37F-E895-58F5-7151F491C1E6}"/>
              </a:ext>
            </a:extLst>
          </p:cNvPr>
          <p:cNvSpPr/>
          <p:nvPr/>
        </p:nvSpPr>
        <p:spPr>
          <a:xfrm>
            <a:off x="-3815646" y="495714"/>
            <a:ext cx="6321779" cy="6205237"/>
          </a:xfrm>
          <a:prstGeom prst="donu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>
              <a:solidFill>
                <a:schemeClr val="tx1"/>
              </a:solidFill>
            </a:endParaRP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94651E97-8794-FD0F-714E-2BD2EFC6565E}"/>
              </a:ext>
            </a:extLst>
          </p:cNvPr>
          <p:cNvSpPr/>
          <p:nvPr/>
        </p:nvSpPr>
        <p:spPr>
          <a:xfrm rot="10800000">
            <a:off x="-3639170" y="363152"/>
            <a:ext cx="6336888" cy="6305784"/>
          </a:xfrm>
          <a:prstGeom prst="blockArc">
            <a:avLst>
              <a:gd name="adj1" fmla="val 10599184"/>
              <a:gd name="adj2" fmla="val 13149299"/>
              <a:gd name="adj3" fmla="val 33350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>
              <a:solidFill>
                <a:schemeClr val="tx1"/>
              </a:solidFill>
            </a:endParaRPr>
          </a:p>
        </p:txBody>
      </p:sp>
      <p:pic>
        <p:nvPicPr>
          <p:cNvPr id="3" name="Graphic 2" descr="Fire with solid fill">
            <a:extLst>
              <a:ext uri="{FF2B5EF4-FFF2-40B4-BE49-F238E27FC236}">
                <a16:creationId xmlns:a16="http://schemas.microsoft.com/office/drawing/2014/main" id="{FF65BDDE-C5F5-4BCB-EC19-92CF6790E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036" y="3792072"/>
            <a:ext cx="914400" cy="914400"/>
          </a:xfrm>
          <a:prstGeom prst="rect">
            <a:avLst/>
          </a:prstGeom>
        </p:spPr>
      </p:pic>
      <p:pic>
        <p:nvPicPr>
          <p:cNvPr id="6" name="Graphic 5" descr="Mop and bucket with solid fill">
            <a:extLst>
              <a:ext uri="{FF2B5EF4-FFF2-40B4-BE49-F238E27FC236}">
                <a16:creationId xmlns:a16="http://schemas.microsoft.com/office/drawing/2014/main" id="{6F2EFB18-770D-2A90-0AE0-E7FD22E81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16" y="1095455"/>
            <a:ext cx="914400" cy="914400"/>
          </a:xfrm>
          <a:prstGeom prst="rect">
            <a:avLst/>
          </a:prstGeom>
        </p:spPr>
      </p:pic>
      <p:pic>
        <p:nvPicPr>
          <p:cNvPr id="8" name="Graphic 7" descr="Head with gears with solid fill">
            <a:extLst>
              <a:ext uri="{FF2B5EF4-FFF2-40B4-BE49-F238E27FC236}">
                <a16:creationId xmlns:a16="http://schemas.microsoft.com/office/drawing/2014/main" id="{658CF14A-A299-2CDA-10C4-1648F17A34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4036" y="2151529"/>
            <a:ext cx="914400" cy="914400"/>
          </a:xfrm>
          <a:prstGeom prst="rect">
            <a:avLst/>
          </a:prstGeom>
        </p:spPr>
      </p:pic>
      <p:pic>
        <p:nvPicPr>
          <p:cNvPr id="9" name="Graphic 8" descr="Bar chart with solid fill">
            <a:extLst>
              <a:ext uri="{FF2B5EF4-FFF2-40B4-BE49-F238E27FC236}">
                <a16:creationId xmlns:a16="http://schemas.microsoft.com/office/drawing/2014/main" id="{6D5D42DB-79E1-AB49-07BD-D731FA4551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716" y="5190565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CF752E-D66E-C69C-E091-09F640C16049}"/>
              </a:ext>
            </a:extLst>
          </p:cNvPr>
          <p:cNvSpPr txBox="1"/>
          <p:nvPr/>
        </p:nvSpPr>
        <p:spPr>
          <a:xfrm>
            <a:off x="4697003" y="797224"/>
            <a:ext cx="6669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4000" b="1" dirty="0">
                <a:latin typeface="+mj-lt"/>
              </a:rPr>
              <a:t>Training &amp; Disasters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6EF4D-37EF-784F-A3C0-958231F14DCD}"/>
              </a:ext>
            </a:extLst>
          </p:cNvPr>
          <p:cNvSpPr txBox="1"/>
          <p:nvPr/>
        </p:nvSpPr>
        <p:spPr>
          <a:xfrm>
            <a:off x="4141693" y="2545993"/>
            <a:ext cx="7694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2400" dirty="0">
                <a:latin typeface="+mj-lt"/>
              </a:rPr>
              <a:t>Defining ‘Disaster’: </a:t>
            </a:r>
            <a:r>
              <a:rPr lang="en-GR" sz="2000" dirty="0">
                <a:latin typeface="+mj-lt"/>
              </a:rPr>
              <a:t>The model was trained to flag tweets describing literal physical emergencies while ignoring metaphorical issues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52331F-2FAB-DD83-1987-C8C389F02571}"/>
              </a:ext>
            </a:extLst>
          </p:cNvPr>
          <p:cNvGrpSpPr/>
          <p:nvPr/>
        </p:nvGrpSpPr>
        <p:grpSpPr>
          <a:xfrm>
            <a:off x="4141693" y="3429000"/>
            <a:ext cx="5910581" cy="2492990"/>
            <a:chOff x="4141693" y="2545993"/>
            <a:chExt cx="5910581" cy="249299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076370-2D90-35EE-DAC0-111EB67AB3B3}"/>
                </a:ext>
              </a:extLst>
            </p:cNvPr>
            <p:cNvSpPr txBox="1"/>
            <p:nvPr/>
          </p:nvSpPr>
          <p:spPr>
            <a:xfrm>
              <a:off x="4141693" y="2545993"/>
              <a:ext cx="45324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sz="2400" dirty="0">
                  <a:latin typeface="+mj-lt"/>
                </a:rPr>
                <a:t>Training Configuration: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BDA8998-DFED-1378-6471-0BBC79DD928C}"/>
                </a:ext>
              </a:extLst>
            </p:cNvPr>
            <p:cNvSpPr txBox="1"/>
            <p:nvPr/>
          </p:nvSpPr>
          <p:spPr>
            <a:xfrm flipH="1">
              <a:off x="4141693" y="3007658"/>
              <a:ext cx="5910581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Framework: Pytorch &amp; H</a:t>
              </a:r>
              <a:r>
                <a:rPr lang="en-GB" dirty="0"/>
                <a:t>u</a:t>
              </a:r>
              <a:r>
                <a:rPr lang="en-GR" dirty="0"/>
                <a:t>gging face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Data split: 70% train, 15% validation, 15% test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Epochs: 3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B</a:t>
              </a:r>
              <a:r>
                <a:rPr lang="en-GB" dirty="0"/>
                <a:t>a</a:t>
              </a:r>
              <a:r>
                <a:rPr lang="en-GR" dirty="0"/>
                <a:t>tch size: 16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Strategy : We saved the model checkpoint with the highest validation F1 score rather than just the accuracy average.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47919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55A3B-5B5A-DE3C-3831-FE1231E70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ghnut 3">
            <a:extLst>
              <a:ext uri="{FF2B5EF4-FFF2-40B4-BE49-F238E27FC236}">
                <a16:creationId xmlns:a16="http://schemas.microsoft.com/office/drawing/2014/main" id="{98763C12-3FC3-5FF2-1CD4-0CEE9A1C2BF2}"/>
              </a:ext>
            </a:extLst>
          </p:cNvPr>
          <p:cNvSpPr/>
          <p:nvPr/>
        </p:nvSpPr>
        <p:spPr>
          <a:xfrm>
            <a:off x="-3815646" y="495714"/>
            <a:ext cx="6321779" cy="6205237"/>
          </a:xfrm>
          <a:prstGeom prst="donu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>
              <a:solidFill>
                <a:schemeClr val="tx1"/>
              </a:solidFill>
            </a:endParaRP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677DE8C3-D2D2-ADB3-3D0B-9AA44D9B8C0A}"/>
              </a:ext>
            </a:extLst>
          </p:cNvPr>
          <p:cNvSpPr/>
          <p:nvPr/>
        </p:nvSpPr>
        <p:spPr>
          <a:xfrm rot="13461043">
            <a:off x="-3639170" y="363152"/>
            <a:ext cx="6336888" cy="6305784"/>
          </a:xfrm>
          <a:prstGeom prst="blockArc">
            <a:avLst>
              <a:gd name="adj1" fmla="val 10599184"/>
              <a:gd name="adj2" fmla="val 13149299"/>
              <a:gd name="adj3" fmla="val 33350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>
              <a:solidFill>
                <a:schemeClr val="tx1"/>
              </a:solidFill>
            </a:endParaRPr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02EF9CC9-1762-9B75-FF70-A9655616B670}"/>
              </a:ext>
            </a:extLst>
          </p:cNvPr>
          <p:cNvSpPr/>
          <p:nvPr/>
        </p:nvSpPr>
        <p:spPr>
          <a:xfrm rot="17309063">
            <a:off x="-3823201" y="445440"/>
            <a:ext cx="6336888" cy="6305784"/>
          </a:xfrm>
          <a:prstGeom prst="blockArc">
            <a:avLst>
              <a:gd name="adj1" fmla="val 10599184"/>
              <a:gd name="adj2" fmla="val 20864087"/>
              <a:gd name="adj3" fmla="val 28996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>
              <a:solidFill>
                <a:schemeClr val="tx1"/>
              </a:solidFill>
            </a:endParaRPr>
          </a:p>
        </p:txBody>
      </p:sp>
      <p:pic>
        <p:nvPicPr>
          <p:cNvPr id="6" name="Graphic 5" descr="Mop and bucket with solid fill">
            <a:extLst>
              <a:ext uri="{FF2B5EF4-FFF2-40B4-BE49-F238E27FC236}">
                <a16:creationId xmlns:a16="http://schemas.microsoft.com/office/drawing/2014/main" id="{76881BF0-5EF0-EA04-62EE-4A418E138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16" y="1095455"/>
            <a:ext cx="914400" cy="914400"/>
          </a:xfrm>
          <a:prstGeom prst="rect">
            <a:avLst/>
          </a:prstGeom>
        </p:spPr>
      </p:pic>
      <p:pic>
        <p:nvPicPr>
          <p:cNvPr id="8" name="Graphic 7" descr="Head with gears with solid fill">
            <a:extLst>
              <a:ext uri="{FF2B5EF4-FFF2-40B4-BE49-F238E27FC236}">
                <a16:creationId xmlns:a16="http://schemas.microsoft.com/office/drawing/2014/main" id="{B3D8FACB-E490-B9F0-1D2C-88C2A03E06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036" y="2151529"/>
            <a:ext cx="914400" cy="914400"/>
          </a:xfrm>
          <a:prstGeom prst="rect">
            <a:avLst/>
          </a:prstGeom>
        </p:spPr>
      </p:pic>
      <p:pic>
        <p:nvPicPr>
          <p:cNvPr id="10" name="Graphic 9" descr="Fire with solid fill">
            <a:extLst>
              <a:ext uri="{FF2B5EF4-FFF2-40B4-BE49-F238E27FC236}">
                <a16:creationId xmlns:a16="http://schemas.microsoft.com/office/drawing/2014/main" id="{B9BB4FEF-8CE3-BF69-BA08-EEEB7C63AD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4036" y="3792072"/>
            <a:ext cx="914400" cy="914400"/>
          </a:xfrm>
          <a:prstGeom prst="rect">
            <a:avLst/>
          </a:prstGeom>
        </p:spPr>
      </p:pic>
      <p:pic>
        <p:nvPicPr>
          <p:cNvPr id="14" name="Graphic 13" descr="Bar chart with solid fill">
            <a:extLst>
              <a:ext uri="{FF2B5EF4-FFF2-40B4-BE49-F238E27FC236}">
                <a16:creationId xmlns:a16="http://schemas.microsoft.com/office/drawing/2014/main" id="{91AD34D7-2F98-8681-E87B-7F4A2EC8A3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16" y="5190565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E7A79F8-BC65-8718-E738-2468E39069ED}"/>
              </a:ext>
            </a:extLst>
          </p:cNvPr>
          <p:cNvSpPr txBox="1"/>
          <p:nvPr/>
        </p:nvSpPr>
        <p:spPr>
          <a:xfrm>
            <a:off x="4141693" y="783214"/>
            <a:ext cx="6669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4000" b="1" dirty="0">
                <a:latin typeface="+mj-lt"/>
              </a:rPr>
              <a:t>Final Data Results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8DEB35-5B94-4B93-6DA5-F3FAB2EBB4D8}"/>
              </a:ext>
            </a:extLst>
          </p:cNvPr>
          <p:cNvGrpSpPr/>
          <p:nvPr/>
        </p:nvGrpSpPr>
        <p:grpSpPr>
          <a:xfrm>
            <a:off x="4141693" y="2545993"/>
            <a:ext cx="5910581" cy="1107996"/>
            <a:chOff x="4141693" y="2545993"/>
            <a:chExt cx="5910581" cy="110799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AB4CB6-3941-AF6C-2A5C-90090E466D35}"/>
                </a:ext>
              </a:extLst>
            </p:cNvPr>
            <p:cNvSpPr txBox="1"/>
            <p:nvPr/>
          </p:nvSpPr>
          <p:spPr>
            <a:xfrm>
              <a:off x="4141693" y="2545993"/>
              <a:ext cx="23607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sz="2400" dirty="0">
                  <a:latin typeface="+mj-lt"/>
                </a:rPr>
                <a:t>Key metrics: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FAE16D-355B-174E-7FFB-2B5C793BC79B}"/>
                </a:ext>
              </a:extLst>
            </p:cNvPr>
            <p:cNvSpPr txBox="1"/>
            <p:nvPr/>
          </p:nvSpPr>
          <p:spPr>
            <a:xfrm flipH="1">
              <a:off x="4141693" y="3007658"/>
              <a:ext cx="59105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F1 score: avg 0.84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Recall: avg 0.84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FB15FE-4CBB-0ADC-6419-0C46BF16E4B0}"/>
              </a:ext>
            </a:extLst>
          </p:cNvPr>
          <p:cNvGrpSpPr/>
          <p:nvPr/>
        </p:nvGrpSpPr>
        <p:grpSpPr>
          <a:xfrm>
            <a:off x="3998972" y="4062551"/>
            <a:ext cx="5910581" cy="830997"/>
            <a:chOff x="4141693" y="2545993"/>
            <a:chExt cx="5910581" cy="83099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6281EA-2936-03F0-D71B-A383F8CB17BF}"/>
                </a:ext>
              </a:extLst>
            </p:cNvPr>
            <p:cNvSpPr txBox="1"/>
            <p:nvPr/>
          </p:nvSpPr>
          <p:spPr>
            <a:xfrm>
              <a:off x="4141693" y="2545993"/>
              <a:ext cx="23607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sz="2400" dirty="0">
                  <a:latin typeface="+mj-lt"/>
                </a:rPr>
                <a:t>Analysis: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C41DA0C-6693-7E2F-85AE-D0F812025449}"/>
                </a:ext>
              </a:extLst>
            </p:cNvPr>
            <p:cNvSpPr txBox="1"/>
            <p:nvPr/>
          </p:nvSpPr>
          <p:spPr>
            <a:xfrm flipH="1">
              <a:off x="4141693" y="3007658"/>
              <a:ext cx="59105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dirty="0"/>
                <a:t>We succesfully managed to minimize the ‘false </a:t>
              </a:r>
              <a:r>
                <a:rPr lang="en-GR"/>
                <a:t>negatives’.</a:t>
              </a:r>
              <a:endParaRPr lang="en-GR" dirty="0"/>
            </a:p>
          </p:txBody>
        </p:sp>
      </p:grpSp>
    </p:spTree>
    <p:extLst>
      <p:ext uri="{BB962C8B-B14F-4D97-AF65-F5344CB8AC3E}">
        <p14:creationId xmlns:p14="http://schemas.microsoft.com/office/powerpoint/2010/main" val="3556573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60ED7-5447-61F0-A555-481F47C57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ghnut 3">
            <a:extLst>
              <a:ext uri="{FF2B5EF4-FFF2-40B4-BE49-F238E27FC236}">
                <a16:creationId xmlns:a16="http://schemas.microsoft.com/office/drawing/2014/main" id="{E0544706-AB0C-BF43-1B3D-487981EB445B}"/>
              </a:ext>
            </a:extLst>
          </p:cNvPr>
          <p:cNvSpPr/>
          <p:nvPr/>
        </p:nvSpPr>
        <p:spPr>
          <a:xfrm>
            <a:off x="-3815646" y="495714"/>
            <a:ext cx="6321779" cy="6205237"/>
          </a:xfrm>
          <a:prstGeom prst="donu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>
              <a:solidFill>
                <a:schemeClr val="tx1"/>
              </a:solidFill>
            </a:endParaRPr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67052ED2-B6BF-F5CA-706B-49074DCB2279}"/>
              </a:ext>
            </a:extLst>
          </p:cNvPr>
          <p:cNvSpPr/>
          <p:nvPr/>
        </p:nvSpPr>
        <p:spPr>
          <a:xfrm rot="5801694">
            <a:off x="-3823201" y="445440"/>
            <a:ext cx="6336888" cy="6305784"/>
          </a:xfrm>
          <a:prstGeom prst="blockArc">
            <a:avLst>
              <a:gd name="adj1" fmla="val 10599184"/>
              <a:gd name="adj2" fmla="val 20864087"/>
              <a:gd name="adj3" fmla="val 28996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>
              <a:solidFill>
                <a:schemeClr val="tx1"/>
              </a:solidFill>
            </a:endParaRPr>
          </a:p>
        </p:txBody>
      </p:sp>
      <p:pic>
        <p:nvPicPr>
          <p:cNvPr id="12" name="Graphic 11" descr="Bar chart with solid fill">
            <a:extLst>
              <a:ext uri="{FF2B5EF4-FFF2-40B4-BE49-F238E27FC236}">
                <a16:creationId xmlns:a16="http://schemas.microsoft.com/office/drawing/2014/main" id="{78057408-2BC6-2FE8-918B-02FF744CC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16" y="5190565"/>
            <a:ext cx="914400" cy="914400"/>
          </a:xfrm>
          <a:prstGeom prst="rect">
            <a:avLst/>
          </a:prstGeom>
        </p:spPr>
      </p:pic>
      <p:pic>
        <p:nvPicPr>
          <p:cNvPr id="11" name="Graphic 10" descr="Fire with solid fill">
            <a:extLst>
              <a:ext uri="{FF2B5EF4-FFF2-40B4-BE49-F238E27FC236}">
                <a16:creationId xmlns:a16="http://schemas.microsoft.com/office/drawing/2014/main" id="{2890FA26-0216-85B6-346C-926C86369A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036" y="3792072"/>
            <a:ext cx="914400" cy="914400"/>
          </a:xfrm>
          <a:prstGeom prst="rect">
            <a:avLst/>
          </a:prstGeom>
        </p:spPr>
      </p:pic>
      <p:pic>
        <p:nvPicPr>
          <p:cNvPr id="8" name="Graphic 7" descr="Head with gears with solid fill">
            <a:extLst>
              <a:ext uri="{FF2B5EF4-FFF2-40B4-BE49-F238E27FC236}">
                <a16:creationId xmlns:a16="http://schemas.microsoft.com/office/drawing/2014/main" id="{819F7FD1-DDCF-02CF-A746-E8E4F40BFE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4036" y="2151529"/>
            <a:ext cx="914400" cy="914400"/>
          </a:xfrm>
          <a:prstGeom prst="rect">
            <a:avLst/>
          </a:prstGeom>
        </p:spPr>
      </p:pic>
      <p:pic>
        <p:nvPicPr>
          <p:cNvPr id="6" name="Graphic 5" descr="Mop and bucket with solid fill">
            <a:extLst>
              <a:ext uri="{FF2B5EF4-FFF2-40B4-BE49-F238E27FC236}">
                <a16:creationId xmlns:a16="http://schemas.microsoft.com/office/drawing/2014/main" id="{0C4BF774-5F0D-D37E-3541-63AFBD5A7E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16" y="1095455"/>
            <a:ext cx="914400" cy="914400"/>
          </a:xfrm>
          <a:prstGeom prst="rect">
            <a:avLst/>
          </a:prstGeom>
        </p:spPr>
      </p:pic>
      <p:sp>
        <p:nvSpPr>
          <p:cNvPr id="13" name="Block Arc 12">
            <a:extLst>
              <a:ext uri="{FF2B5EF4-FFF2-40B4-BE49-F238E27FC236}">
                <a16:creationId xmlns:a16="http://schemas.microsoft.com/office/drawing/2014/main" id="{CB11D115-57A7-8886-AD57-2859F8F40C79}"/>
              </a:ext>
            </a:extLst>
          </p:cNvPr>
          <p:cNvSpPr/>
          <p:nvPr/>
        </p:nvSpPr>
        <p:spPr>
          <a:xfrm rot="16200000">
            <a:off x="-3639170" y="363152"/>
            <a:ext cx="6336888" cy="6305784"/>
          </a:xfrm>
          <a:prstGeom prst="blockArc">
            <a:avLst>
              <a:gd name="adj1" fmla="val 10599184"/>
              <a:gd name="adj2" fmla="val 13149299"/>
              <a:gd name="adj3" fmla="val 33350"/>
            </a:avLst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2AE841-D8FD-91B6-8803-3DEA80BED2FD}"/>
              </a:ext>
            </a:extLst>
          </p:cNvPr>
          <p:cNvSpPr txBox="1"/>
          <p:nvPr/>
        </p:nvSpPr>
        <p:spPr>
          <a:xfrm>
            <a:off x="4141693" y="783214"/>
            <a:ext cx="6669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+mj-lt"/>
              </a:rPr>
              <a:t>Disaster Tweet Classification</a:t>
            </a:r>
            <a:endParaRPr lang="en-GR" sz="4000" b="1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B6B674-4D5A-9E85-251B-7F3A1D162027}"/>
              </a:ext>
            </a:extLst>
          </p:cNvPr>
          <p:cNvSpPr txBox="1"/>
          <p:nvPr/>
        </p:nvSpPr>
        <p:spPr>
          <a:xfrm>
            <a:off x="4873478" y="1367989"/>
            <a:ext cx="481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Identifying Real-World Emergencies using NLP</a:t>
            </a:r>
            <a:endParaRPr lang="en-GR" i="1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00B090-210D-C330-2074-5FFC98D63D7E}"/>
              </a:ext>
            </a:extLst>
          </p:cNvPr>
          <p:cNvGrpSpPr/>
          <p:nvPr/>
        </p:nvGrpSpPr>
        <p:grpSpPr>
          <a:xfrm>
            <a:off x="4141693" y="2545993"/>
            <a:ext cx="5910581" cy="1107996"/>
            <a:chOff x="4141693" y="2545993"/>
            <a:chExt cx="5910581" cy="110799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BFBE93-D7BE-2244-0FA7-DCE59CD89336}"/>
                </a:ext>
              </a:extLst>
            </p:cNvPr>
            <p:cNvSpPr txBox="1"/>
            <p:nvPr/>
          </p:nvSpPr>
          <p:spPr>
            <a:xfrm>
              <a:off x="4141693" y="2545993"/>
              <a:ext cx="23607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sz="2400" dirty="0">
                  <a:latin typeface="+mj-lt"/>
                </a:rPr>
                <a:t>Conclusion: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87FB83-8D9A-4F81-C9A2-0493D5B29BF0}"/>
                </a:ext>
              </a:extLst>
            </p:cNvPr>
            <p:cNvSpPr txBox="1"/>
            <p:nvPr/>
          </p:nvSpPr>
          <p:spPr>
            <a:xfrm flipH="1">
              <a:off x="4141693" y="3007658"/>
              <a:ext cx="59105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 We succesfully fine-tuned a transformer model to classify didaster tweets with high efficiency.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F4BE10-6D68-0CC1-9E57-280BEEFF6E01}"/>
              </a:ext>
            </a:extLst>
          </p:cNvPr>
          <p:cNvGrpSpPr/>
          <p:nvPr/>
        </p:nvGrpSpPr>
        <p:grpSpPr>
          <a:xfrm>
            <a:off x="4040093" y="4013974"/>
            <a:ext cx="5910581" cy="1938993"/>
            <a:chOff x="4141693" y="2545993"/>
            <a:chExt cx="5910581" cy="193899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DB5EFA-E4A8-7C92-FDDF-04E68634C51C}"/>
                </a:ext>
              </a:extLst>
            </p:cNvPr>
            <p:cNvSpPr txBox="1"/>
            <p:nvPr/>
          </p:nvSpPr>
          <p:spPr>
            <a:xfrm>
              <a:off x="4141693" y="2545993"/>
              <a:ext cx="44943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R" sz="2400" dirty="0">
                  <a:latin typeface="+mj-lt"/>
                </a:rPr>
                <a:t>Future impovements: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84B79E-537F-30EC-12C4-356270E96898}"/>
                </a:ext>
              </a:extLst>
            </p:cNvPr>
            <p:cNvSpPr txBox="1"/>
            <p:nvPr/>
          </p:nvSpPr>
          <p:spPr>
            <a:xfrm flipH="1">
              <a:off x="4141693" y="3007658"/>
              <a:ext cx="591058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We could add back the keyword columns to improve accuracy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R" dirty="0"/>
                <a:t> We could also do </a:t>
              </a:r>
              <a:r>
                <a:rPr lang="en-GB" dirty="0"/>
                <a:t>Hyperparameter tuning, experimenting with learning rates and epochs to improve results.</a:t>
              </a:r>
              <a:endParaRPr lang="en-GR" dirty="0"/>
            </a:p>
          </p:txBody>
        </p:sp>
      </p:grpSp>
    </p:spTree>
    <p:extLst>
      <p:ext uri="{BB962C8B-B14F-4D97-AF65-F5344CB8AC3E}">
        <p14:creationId xmlns:p14="http://schemas.microsoft.com/office/powerpoint/2010/main" val="11612203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</TotalTime>
  <Words>405</Words>
  <Application>Microsoft Macintosh PowerPoint</Application>
  <PresentationFormat>Widescreen</PresentationFormat>
  <Paragraphs>45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IOANNIS MICHAILIDIS</dc:creator>
  <cp:lastModifiedBy>IOANNIS MICHAILIDIS</cp:lastModifiedBy>
  <cp:revision>1</cp:revision>
  <dcterms:created xsi:type="dcterms:W3CDTF">2026-02-03T15:02:03Z</dcterms:created>
  <dcterms:modified xsi:type="dcterms:W3CDTF">2026-02-03T19:19:05Z</dcterms:modified>
</cp:coreProperties>
</file>